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Tomorrow" charset="0"/>
      <p:regular r:id="rId11"/>
    </p:embeddedFont>
    <p:embeddedFont>
      <p:font typeface="Calibri" pitchFamily="34" charset="0"/>
      <p:regular r:id="rId12"/>
      <p:bold r:id="rId13"/>
      <p:italic r:id="rId14"/>
      <p:boldItalic r:id="rId15"/>
    </p:embeddedFont>
    <p:embeddedFont>
      <p:font typeface="Tomorrow Semi Bold"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204" y="-54"/>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731D90DF-21E2-488B-B1AD-7BB7D57B8AF0}" type="datetimeFigureOut">
              <a:rPr lang="en-IN" smtClean="0"/>
              <a:t>19-12-2024</a:t>
            </a:fld>
            <a:endParaRPr lang="en-IN"/>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89D1ACE2-E4D0-4047-8F4B-A7AD3A8B72B6}" type="slidenum">
              <a:rPr lang="en-IN" smtClean="0"/>
              <a:t>‹#›</a:t>
            </a:fld>
            <a:endParaRPr lang="en-IN"/>
          </a:p>
        </p:txBody>
      </p:sp>
    </p:spTree>
    <p:extLst>
      <p:ext uri="{BB962C8B-B14F-4D97-AF65-F5344CB8AC3E}">
        <p14:creationId xmlns:p14="http://schemas.microsoft.com/office/powerpoint/2010/main" val="336567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29753"/>
            <a:ext cx="7556421" cy="2126337"/>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Bayesian Learning: Unlocking Insights from Probabilities</a:t>
            </a:r>
            <a:endParaRPr lang="en-US" sz="4450" dirty="0"/>
          </a:p>
        </p:txBody>
      </p:sp>
      <p:sp>
        <p:nvSpPr>
          <p:cNvPr id="4" name="Text 1"/>
          <p:cNvSpPr/>
          <p:nvPr/>
        </p:nvSpPr>
        <p:spPr>
          <a:xfrm>
            <a:off x="793790" y="4296251"/>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This presentation explores the powerful world of Bayesian learning, focusing on Naive Bayes and Bayesian Belief Networks. We will delve into the fundamentals of this probabilistic approach, its practical applications, and its strengths and limitations.</a:t>
            </a:r>
            <a:endParaRPr lang="en-US" sz="1750" dirty="0"/>
          </a:p>
        </p:txBody>
      </p:sp>
      <p:sp>
        <p:nvSpPr>
          <p:cNvPr id="5" name="Shape 2"/>
          <p:cNvSpPr/>
          <p:nvPr/>
        </p:nvSpPr>
        <p:spPr>
          <a:xfrm>
            <a:off x="793790" y="6019919"/>
            <a:ext cx="362903" cy="362903"/>
          </a:xfrm>
          <a:prstGeom prst="roundRect">
            <a:avLst>
              <a:gd name="adj" fmla="val 25194296"/>
            </a:avLst>
          </a:prstGeom>
          <a:noFill/>
          <a:ln w="7620">
            <a:solidFill>
              <a:srgbClr val="FFFFFF"/>
            </a:solidFill>
            <a:prstDash val="solid"/>
          </a:ln>
        </p:spPr>
      </p:sp>
      <p:pic>
        <p:nvPicPr>
          <p:cNvPr id="6" name="Image 1" descr="preencoded.png"/>
          <p:cNvPicPr>
            <a:picLocks noChangeAspect="1"/>
          </p:cNvPicPr>
          <p:nvPr/>
        </p:nvPicPr>
        <p:blipFill>
          <a:blip r:embed="rId4"/>
          <a:stretch>
            <a:fillRect/>
          </a:stretch>
        </p:blipFill>
        <p:spPr>
          <a:xfrm>
            <a:off x="801410" y="6027539"/>
            <a:ext cx="347663" cy="347663"/>
          </a:xfrm>
          <a:prstGeom prst="rect">
            <a:avLst/>
          </a:prstGeom>
        </p:spPr>
      </p:pic>
      <p:sp>
        <p:nvSpPr>
          <p:cNvPr id="7" name="Text 3"/>
          <p:cNvSpPr/>
          <p:nvPr/>
        </p:nvSpPr>
        <p:spPr>
          <a:xfrm>
            <a:off x="1270040" y="6003012"/>
            <a:ext cx="2416612" cy="396835"/>
          </a:xfrm>
          <a:prstGeom prst="rect">
            <a:avLst/>
          </a:prstGeom>
          <a:noFill/>
          <a:ln/>
        </p:spPr>
        <p:txBody>
          <a:bodyPr wrap="none" lIns="0" tIns="0" rIns="0" bIns="0" rtlCol="0" anchor="t"/>
          <a:lstStyle/>
          <a:p>
            <a:pPr marL="0" indent="0" algn="l">
              <a:lnSpc>
                <a:spcPts val="3100"/>
              </a:lnSpc>
              <a:buNone/>
            </a:pPr>
            <a:r>
              <a:rPr lang="en-US" sz="2200" b="1" dirty="0">
                <a:solidFill>
                  <a:srgbClr val="C9C9C0"/>
                </a:solidFill>
                <a:latin typeface="Tomorrow Bold" pitchFamily="34" charset="0"/>
                <a:ea typeface="Tomorrow Bold" pitchFamily="34" charset="-122"/>
                <a:cs typeface="Tomorrow Bold" pitchFamily="34" charset="-120"/>
              </a:rPr>
              <a:t>by richa sharma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539960"/>
            <a:ext cx="10571321"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Fundamentals of Bayesian Inference</a:t>
            </a:r>
            <a:endParaRPr lang="en-US" sz="4450" dirty="0"/>
          </a:p>
        </p:txBody>
      </p:sp>
      <p:sp>
        <p:nvSpPr>
          <p:cNvPr id="3" name="Text 1"/>
          <p:cNvSpPr/>
          <p:nvPr/>
        </p:nvSpPr>
        <p:spPr>
          <a:xfrm>
            <a:off x="793790" y="3815715"/>
            <a:ext cx="339792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Probabilistic Reasoning</a:t>
            </a:r>
            <a:endParaRPr lang="en-US" sz="2200" dirty="0"/>
          </a:p>
        </p:txBody>
      </p:sp>
      <p:sp>
        <p:nvSpPr>
          <p:cNvPr id="4" name="Text 2"/>
          <p:cNvSpPr/>
          <p:nvPr/>
        </p:nvSpPr>
        <p:spPr>
          <a:xfrm>
            <a:off x="793790" y="43968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Bayesian inference uses probability to update beliefs based on new evidence. It's a powerful tool for decision-making and reasoning under uncertainty.</a:t>
            </a:r>
            <a:endParaRPr lang="en-US" sz="1750" dirty="0"/>
          </a:p>
        </p:txBody>
      </p:sp>
      <p:sp>
        <p:nvSpPr>
          <p:cNvPr id="5" name="Text 3"/>
          <p:cNvSpPr/>
          <p:nvPr/>
        </p:nvSpPr>
        <p:spPr>
          <a:xfrm>
            <a:off x="7599521" y="3815715"/>
            <a:ext cx="4619863"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Prior and Posterior Distributions</a:t>
            </a:r>
            <a:endParaRPr lang="en-US" sz="2200" dirty="0"/>
          </a:p>
        </p:txBody>
      </p:sp>
      <p:sp>
        <p:nvSpPr>
          <p:cNvPr id="6" name="Text 4"/>
          <p:cNvSpPr/>
          <p:nvPr/>
        </p:nvSpPr>
        <p:spPr>
          <a:xfrm>
            <a:off x="7599521" y="4396859"/>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Bayesian methods work with prior beliefs and update them with observed data to form posterior distributions reflecting the updated knowledge.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6882" y="604004"/>
            <a:ext cx="13096637" cy="1369457"/>
          </a:xfrm>
          <a:prstGeom prst="rect">
            <a:avLst/>
          </a:prstGeom>
          <a:noFill/>
          <a:ln/>
        </p:spPr>
        <p:txBody>
          <a:bodyPr wrap="square" lIns="0" tIns="0" rIns="0" bIns="0" rtlCol="0" anchor="t"/>
          <a:lstStyle/>
          <a:p>
            <a:pPr marL="0" indent="0">
              <a:lnSpc>
                <a:spcPts val="5350"/>
              </a:lnSpc>
              <a:buNone/>
            </a:pPr>
            <a:r>
              <a:rPr lang="en-US" sz="4300" dirty="0">
                <a:solidFill>
                  <a:srgbClr val="EDEDE8"/>
                </a:solidFill>
                <a:latin typeface="Tomorrow Semi Bold" pitchFamily="34" charset="0"/>
                <a:ea typeface="Tomorrow Semi Bold" pitchFamily="34" charset="-122"/>
                <a:cs typeface="Tomorrow Semi Bold" pitchFamily="34" charset="-120"/>
              </a:rPr>
              <a:t>Bayes' Theorem: The Core of Bayesian Inference</a:t>
            </a:r>
            <a:endParaRPr lang="en-US" sz="4300" dirty="0"/>
          </a:p>
        </p:txBody>
      </p:sp>
      <p:pic>
        <p:nvPicPr>
          <p:cNvPr id="3" name="Image 0" descr="preencoded.png"/>
          <p:cNvPicPr>
            <a:picLocks noChangeAspect="1"/>
          </p:cNvPicPr>
          <p:nvPr/>
        </p:nvPicPr>
        <p:blipFill>
          <a:blip r:embed="rId3"/>
          <a:stretch>
            <a:fillRect/>
          </a:stretch>
        </p:blipFill>
        <p:spPr>
          <a:xfrm>
            <a:off x="3230642" y="2411611"/>
            <a:ext cx="1620679" cy="1262420"/>
          </a:xfrm>
          <a:prstGeom prst="rect">
            <a:avLst/>
          </a:prstGeom>
        </p:spPr>
      </p:pic>
      <p:sp>
        <p:nvSpPr>
          <p:cNvPr id="4" name="Text 1"/>
          <p:cNvSpPr/>
          <p:nvPr/>
        </p:nvSpPr>
        <p:spPr>
          <a:xfrm>
            <a:off x="3978593" y="2980134"/>
            <a:ext cx="124658" cy="438150"/>
          </a:xfrm>
          <a:prstGeom prst="rect">
            <a:avLst/>
          </a:prstGeom>
          <a:noFill/>
          <a:ln/>
        </p:spPr>
        <p:txBody>
          <a:bodyPr wrap="none" lIns="0" tIns="0" rIns="0" bIns="0" rtlCol="0" anchor="t"/>
          <a:lstStyle/>
          <a:p>
            <a:pPr marL="0" indent="0" algn="ctr">
              <a:lnSpc>
                <a:spcPts val="3450"/>
              </a:lnSpc>
              <a:buNone/>
            </a:pPr>
            <a:r>
              <a:rPr lang="en-US" sz="2150" dirty="0">
                <a:solidFill>
                  <a:srgbClr val="C9C9C0"/>
                </a:solidFill>
                <a:latin typeface="Tomorrow Semi Bold" pitchFamily="34" charset="0"/>
                <a:ea typeface="Tomorrow Semi Bold" pitchFamily="34" charset="-122"/>
                <a:cs typeface="Tomorrow Semi Bold" pitchFamily="34" charset="-120"/>
              </a:rPr>
              <a:t>1</a:t>
            </a:r>
            <a:endParaRPr lang="en-US" sz="2150" dirty="0"/>
          </a:p>
        </p:txBody>
      </p:sp>
      <p:sp>
        <p:nvSpPr>
          <p:cNvPr id="5" name="Text 2"/>
          <p:cNvSpPr/>
          <p:nvPr/>
        </p:nvSpPr>
        <p:spPr>
          <a:xfrm>
            <a:off x="5070396" y="2630686"/>
            <a:ext cx="2738914" cy="342305"/>
          </a:xfrm>
          <a:prstGeom prst="rect">
            <a:avLst/>
          </a:prstGeom>
          <a:noFill/>
          <a:ln/>
        </p:spPr>
        <p:txBody>
          <a:bodyPr wrap="none" lIns="0" tIns="0" rIns="0" bIns="0" rtlCol="0" anchor="t"/>
          <a:lstStyle/>
          <a:p>
            <a:pPr marL="0" indent="0" algn="l">
              <a:lnSpc>
                <a:spcPts val="2650"/>
              </a:lnSpc>
              <a:buNone/>
            </a:pPr>
            <a:r>
              <a:rPr lang="en-US" sz="2150" dirty="0">
                <a:solidFill>
                  <a:srgbClr val="C9C9C0"/>
                </a:solidFill>
                <a:latin typeface="Tomorrow Semi Bold" pitchFamily="34" charset="0"/>
                <a:ea typeface="Tomorrow Semi Bold" pitchFamily="34" charset="-122"/>
                <a:cs typeface="Tomorrow Semi Bold" pitchFamily="34" charset="-120"/>
              </a:rPr>
              <a:t>Prior Probability</a:t>
            </a:r>
            <a:endParaRPr lang="en-US" sz="2150" dirty="0"/>
          </a:p>
        </p:txBody>
      </p:sp>
      <p:sp>
        <p:nvSpPr>
          <p:cNvPr id="6" name="Text 3"/>
          <p:cNvSpPr/>
          <p:nvPr/>
        </p:nvSpPr>
        <p:spPr>
          <a:xfrm>
            <a:off x="5070396" y="3104436"/>
            <a:ext cx="6062543" cy="350520"/>
          </a:xfrm>
          <a:prstGeom prst="rect">
            <a:avLst/>
          </a:prstGeom>
          <a:noFill/>
          <a:ln/>
        </p:spPr>
        <p:txBody>
          <a:bodyPr wrap="non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The probability of an event before observing any evidence.</a:t>
            </a:r>
            <a:endParaRPr lang="en-US" sz="1700" dirty="0"/>
          </a:p>
        </p:txBody>
      </p:sp>
      <p:sp>
        <p:nvSpPr>
          <p:cNvPr id="7" name="Shape 4"/>
          <p:cNvSpPr/>
          <p:nvPr/>
        </p:nvSpPr>
        <p:spPr>
          <a:xfrm>
            <a:off x="4906089" y="3686175"/>
            <a:ext cx="8902660" cy="15240"/>
          </a:xfrm>
          <a:prstGeom prst="roundRect">
            <a:avLst>
              <a:gd name="adj" fmla="val 215668"/>
            </a:avLst>
          </a:prstGeom>
          <a:solidFill>
            <a:srgbClr val="555553"/>
          </a:solidFill>
          <a:ln/>
        </p:spPr>
      </p:sp>
      <p:pic>
        <p:nvPicPr>
          <p:cNvPr id="8" name="Image 1" descr="preencoded.png"/>
          <p:cNvPicPr>
            <a:picLocks noChangeAspect="1"/>
          </p:cNvPicPr>
          <p:nvPr/>
        </p:nvPicPr>
        <p:blipFill>
          <a:blip r:embed="rId4"/>
          <a:stretch>
            <a:fillRect/>
          </a:stretch>
        </p:blipFill>
        <p:spPr>
          <a:xfrm>
            <a:off x="2420303" y="3728799"/>
            <a:ext cx="3241358" cy="1262420"/>
          </a:xfrm>
          <a:prstGeom prst="rect">
            <a:avLst/>
          </a:prstGeom>
        </p:spPr>
      </p:pic>
      <p:sp>
        <p:nvSpPr>
          <p:cNvPr id="9" name="Text 5"/>
          <p:cNvSpPr/>
          <p:nvPr/>
        </p:nvSpPr>
        <p:spPr>
          <a:xfrm>
            <a:off x="3948946" y="4140875"/>
            <a:ext cx="184071" cy="438150"/>
          </a:xfrm>
          <a:prstGeom prst="rect">
            <a:avLst/>
          </a:prstGeom>
          <a:noFill/>
          <a:ln/>
        </p:spPr>
        <p:txBody>
          <a:bodyPr wrap="none" lIns="0" tIns="0" rIns="0" bIns="0" rtlCol="0" anchor="t"/>
          <a:lstStyle/>
          <a:p>
            <a:pPr marL="0" indent="0" algn="ctr">
              <a:lnSpc>
                <a:spcPts val="3450"/>
              </a:lnSpc>
              <a:buNone/>
            </a:pPr>
            <a:r>
              <a:rPr lang="en-US" sz="2150" dirty="0">
                <a:solidFill>
                  <a:srgbClr val="C9C9C0"/>
                </a:solidFill>
                <a:latin typeface="Tomorrow Semi Bold" pitchFamily="34" charset="0"/>
                <a:ea typeface="Tomorrow Semi Bold" pitchFamily="34" charset="-122"/>
                <a:cs typeface="Tomorrow Semi Bold" pitchFamily="34" charset="-120"/>
              </a:rPr>
              <a:t>2</a:t>
            </a:r>
            <a:endParaRPr lang="en-US" sz="2150" dirty="0"/>
          </a:p>
        </p:txBody>
      </p:sp>
      <p:sp>
        <p:nvSpPr>
          <p:cNvPr id="10" name="Text 6"/>
          <p:cNvSpPr/>
          <p:nvPr/>
        </p:nvSpPr>
        <p:spPr>
          <a:xfrm>
            <a:off x="5880735" y="3947874"/>
            <a:ext cx="2738914" cy="342305"/>
          </a:xfrm>
          <a:prstGeom prst="rect">
            <a:avLst/>
          </a:prstGeom>
          <a:noFill/>
          <a:ln/>
        </p:spPr>
        <p:txBody>
          <a:bodyPr wrap="none" lIns="0" tIns="0" rIns="0" bIns="0" rtlCol="0" anchor="t"/>
          <a:lstStyle/>
          <a:p>
            <a:pPr marL="0" indent="0" algn="l">
              <a:lnSpc>
                <a:spcPts val="2650"/>
              </a:lnSpc>
              <a:buNone/>
            </a:pPr>
            <a:r>
              <a:rPr lang="en-US" sz="2150" dirty="0">
                <a:solidFill>
                  <a:srgbClr val="C9C9C0"/>
                </a:solidFill>
                <a:latin typeface="Tomorrow Semi Bold" pitchFamily="34" charset="0"/>
                <a:ea typeface="Tomorrow Semi Bold" pitchFamily="34" charset="-122"/>
                <a:cs typeface="Tomorrow Semi Bold" pitchFamily="34" charset="-120"/>
              </a:rPr>
              <a:t>Likelihood</a:t>
            </a:r>
            <a:endParaRPr lang="en-US" sz="2150" dirty="0"/>
          </a:p>
        </p:txBody>
      </p:sp>
      <p:sp>
        <p:nvSpPr>
          <p:cNvPr id="11" name="Text 7"/>
          <p:cNvSpPr/>
          <p:nvPr/>
        </p:nvSpPr>
        <p:spPr>
          <a:xfrm>
            <a:off x="5880735" y="4421624"/>
            <a:ext cx="6247209" cy="350520"/>
          </a:xfrm>
          <a:prstGeom prst="rect">
            <a:avLst/>
          </a:prstGeom>
          <a:noFill/>
          <a:ln/>
        </p:spPr>
        <p:txBody>
          <a:bodyPr wrap="non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The probability of observing evidence given a specific event.</a:t>
            </a:r>
            <a:endParaRPr lang="en-US" sz="1700" dirty="0"/>
          </a:p>
        </p:txBody>
      </p:sp>
      <p:sp>
        <p:nvSpPr>
          <p:cNvPr id="12" name="Shape 8"/>
          <p:cNvSpPr/>
          <p:nvPr/>
        </p:nvSpPr>
        <p:spPr>
          <a:xfrm>
            <a:off x="5716429" y="5003363"/>
            <a:ext cx="8092321" cy="15240"/>
          </a:xfrm>
          <a:prstGeom prst="roundRect">
            <a:avLst>
              <a:gd name="adj" fmla="val 215668"/>
            </a:avLst>
          </a:prstGeom>
          <a:solidFill>
            <a:srgbClr val="555553"/>
          </a:solidFill>
          <a:ln/>
        </p:spPr>
      </p:sp>
      <p:pic>
        <p:nvPicPr>
          <p:cNvPr id="13" name="Image 2" descr="preencoded.png"/>
          <p:cNvPicPr>
            <a:picLocks noChangeAspect="1"/>
          </p:cNvPicPr>
          <p:nvPr/>
        </p:nvPicPr>
        <p:blipFill>
          <a:blip r:embed="rId5"/>
          <a:stretch>
            <a:fillRect/>
          </a:stretch>
        </p:blipFill>
        <p:spPr>
          <a:xfrm>
            <a:off x="1609963" y="5045988"/>
            <a:ext cx="4862036" cy="1262420"/>
          </a:xfrm>
          <a:prstGeom prst="rect">
            <a:avLst/>
          </a:prstGeom>
        </p:spPr>
      </p:pic>
      <p:sp>
        <p:nvSpPr>
          <p:cNvPr id="14" name="Text 9"/>
          <p:cNvSpPr/>
          <p:nvPr/>
        </p:nvSpPr>
        <p:spPr>
          <a:xfrm>
            <a:off x="3949422" y="5458063"/>
            <a:ext cx="182999" cy="438150"/>
          </a:xfrm>
          <a:prstGeom prst="rect">
            <a:avLst/>
          </a:prstGeom>
          <a:noFill/>
          <a:ln/>
        </p:spPr>
        <p:txBody>
          <a:bodyPr wrap="none" lIns="0" tIns="0" rIns="0" bIns="0" rtlCol="0" anchor="t"/>
          <a:lstStyle/>
          <a:p>
            <a:pPr marL="0" indent="0" algn="ctr">
              <a:lnSpc>
                <a:spcPts val="3450"/>
              </a:lnSpc>
              <a:buNone/>
            </a:pPr>
            <a:r>
              <a:rPr lang="en-US" sz="2150" dirty="0">
                <a:solidFill>
                  <a:srgbClr val="C9C9C0"/>
                </a:solidFill>
                <a:latin typeface="Tomorrow Semi Bold" pitchFamily="34" charset="0"/>
                <a:ea typeface="Tomorrow Semi Bold" pitchFamily="34" charset="-122"/>
                <a:cs typeface="Tomorrow Semi Bold" pitchFamily="34" charset="-120"/>
              </a:rPr>
              <a:t>3</a:t>
            </a:r>
            <a:endParaRPr lang="en-US" sz="2150" dirty="0"/>
          </a:p>
        </p:txBody>
      </p:sp>
      <p:sp>
        <p:nvSpPr>
          <p:cNvPr id="15" name="Text 10"/>
          <p:cNvSpPr/>
          <p:nvPr/>
        </p:nvSpPr>
        <p:spPr>
          <a:xfrm>
            <a:off x="6691074" y="5265063"/>
            <a:ext cx="2842855" cy="342305"/>
          </a:xfrm>
          <a:prstGeom prst="rect">
            <a:avLst/>
          </a:prstGeom>
          <a:noFill/>
          <a:ln/>
        </p:spPr>
        <p:txBody>
          <a:bodyPr wrap="none" lIns="0" tIns="0" rIns="0" bIns="0" rtlCol="0" anchor="t"/>
          <a:lstStyle/>
          <a:p>
            <a:pPr marL="0" indent="0" algn="l">
              <a:lnSpc>
                <a:spcPts val="2650"/>
              </a:lnSpc>
              <a:buNone/>
            </a:pPr>
            <a:r>
              <a:rPr lang="en-US" sz="2150" dirty="0">
                <a:solidFill>
                  <a:srgbClr val="C9C9C0"/>
                </a:solidFill>
                <a:latin typeface="Tomorrow Semi Bold" pitchFamily="34" charset="0"/>
                <a:ea typeface="Tomorrow Semi Bold" pitchFamily="34" charset="-122"/>
                <a:cs typeface="Tomorrow Semi Bold" pitchFamily="34" charset="-120"/>
              </a:rPr>
              <a:t>Posterior Probability</a:t>
            </a:r>
            <a:endParaRPr lang="en-US" sz="2150" dirty="0"/>
          </a:p>
        </p:txBody>
      </p:sp>
      <p:sp>
        <p:nvSpPr>
          <p:cNvPr id="16" name="Text 11"/>
          <p:cNvSpPr/>
          <p:nvPr/>
        </p:nvSpPr>
        <p:spPr>
          <a:xfrm>
            <a:off x="6691074" y="5738813"/>
            <a:ext cx="6351270" cy="350520"/>
          </a:xfrm>
          <a:prstGeom prst="rect">
            <a:avLst/>
          </a:prstGeom>
          <a:noFill/>
          <a:ln/>
        </p:spPr>
        <p:txBody>
          <a:bodyPr wrap="non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The updated probability of an event after observing evidence.</a:t>
            </a:r>
            <a:endParaRPr lang="en-US" sz="1700" dirty="0"/>
          </a:p>
        </p:txBody>
      </p:sp>
      <p:sp>
        <p:nvSpPr>
          <p:cNvPr id="17" name="Shape 12"/>
          <p:cNvSpPr/>
          <p:nvPr/>
        </p:nvSpPr>
        <p:spPr>
          <a:xfrm>
            <a:off x="6526768" y="6320552"/>
            <a:ext cx="7281982" cy="15240"/>
          </a:xfrm>
          <a:prstGeom prst="roundRect">
            <a:avLst>
              <a:gd name="adj" fmla="val 215668"/>
            </a:avLst>
          </a:prstGeom>
          <a:solidFill>
            <a:srgbClr val="555553"/>
          </a:solidFill>
          <a:ln/>
        </p:spPr>
      </p:sp>
      <p:pic>
        <p:nvPicPr>
          <p:cNvPr id="18" name="Image 3" descr="preencoded.png"/>
          <p:cNvPicPr>
            <a:picLocks noChangeAspect="1"/>
          </p:cNvPicPr>
          <p:nvPr/>
        </p:nvPicPr>
        <p:blipFill>
          <a:blip r:embed="rId6"/>
          <a:stretch>
            <a:fillRect/>
          </a:stretch>
        </p:blipFill>
        <p:spPr>
          <a:xfrm>
            <a:off x="799505" y="6363176"/>
            <a:ext cx="6482834" cy="1262420"/>
          </a:xfrm>
          <a:prstGeom prst="rect">
            <a:avLst/>
          </a:prstGeom>
        </p:spPr>
      </p:pic>
      <p:sp>
        <p:nvSpPr>
          <p:cNvPr id="19" name="Text 13"/>
          <p:cNvSpPr/>
          <p:nvPr/>
        </p:nvSpPr>
        <p:spPr>
          <a:xfrm>
            <a:off x="3948827" y="6775252"/>
            <a:ext cx="184071" cy="438150"/>
          </a:xfrm>
          <a:prstGeom prst="rect">
            <a:avLst/>
          </a:prstGeom>
          <a:noFill/>
          <a:ln/>
        </p:spPr>
        <p:txBody>
          <a:bodyPr wrap="none" lIns="0" tIns="0" rIns="0" bIns="0" rtlCol="0" anchor="t"/>
          <a:lstStyle/>
          <a:p>
            <a:pPr marL="0" indent="0" algn="ctr">
              <a:lnSpc>
                <a:spcPts val="3450"/>
              </a:lnSpc>
              <a:buNone/>
            </a:pPr>
            <a:r>
              <a:rPr lang="en-US" sz="2150" dirty="0">
                <a:solidFill>
                  <a:srgbClr val="C9C9C0"/>
                </a:solidFill>
                <a:latin typeface="Tomorrow Semi Bold" pitchFamily="34" charset="0"/>
                <a:ea typeface="Tomorrow Semi Bold" pitchFamily="34" charset="-122"/>
                <a:cs typeface="Tomorrow Semi Bold" pitchFamily="34" charset="-120"/>
              </a:rPr>
              <a:t>4</a:t>
            </a:r>
            <a:endParaRPr lang="en-US" sz="2150" dirty="0"/>
          </a:p>
        </p:txBody>
      </p:sp>
      <p:sp>
        <p:nvSpPr>
          <p:cNvPr id="20" name="Text 14"/>
          <p:cNvSpPr/>
          <p:nvPr/>
        </p:nvSpPr>
        <p:spPr>
          <a:xfrm>
            <a:off x="7501414" y="6582251"/>
            <a:ext cx="2856786" cy="342305"/>
          </a:xfrm>
          <a:prstGeom prst="rect">
            <a:avLst/>
          </a:prstGeom>
          <a:noFill/>
          <a:ln/>
        </p:spPr>
        <p:txBody>
          <a:bodyPr wrap="none" lIns="0" tIns="0" rIns="0" bIns="0" rtlCol="0" anchor="t"/>
          <a:lstStyle/>
          <a:p>
            <a:pPr marL="0" indent="0" algn="l">
              <a:lnSpc>
                <a:spcPts val="2650"/>
              </a:lnSpc>
              <a:buNone/>
            </a:pPr>
            <a:r>
              <a:rPr lang="en-US" sz="2150" dirty="0">
                <a:solidFill>
                  <a:srgbClr val="C9C9C0"/>
                </a:solidFill>
                <a:latin typeface="Tomorrow Semi Bold" pitchFamily="34" charset="0"/>
                <a:ea typeface="Tomorrow Semi Bold" pitchFamily="34" charset="-122"/>
                <a:cs typeface="Tomorrow Semi Bold" pitchFamily="34" charset="-120"/>
              </a:rPr>
              <a:t>Evidence Probability</a:t>
            </a:r>
            <a:endParaRPr lang="en-US" sz="2150" dirty="0"/>
          </a:p>
        </p:txBody>
      </p:sp>
      <p:sp>
        <p:nvSpPr>
          <p:cNvPr id="21" name="Text 15"/>
          <p:cNvSpPr/>
          <p:nvPr/>
        </p:nvSpPr>
        <p:spPr>
          <a:xfrm>
            <a:off x="7501414" y="7056001"/>
            <a:ext cx="4890492" cy="350520"/>
          </a:xfrm>
          <a:prstGeom prst="rect">
            <a:avLst/>
          </a:prstGeom>
          <a:noFill/>
          <a:ln/>
        </p:spPr>
        <p:txBody>
          <a:bodyPr wrap="non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The probability of observing the evidence itself.</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33926"/>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Naive Bayes Classifier: A Simple Yet Powerful Tool</a:t>
            </a:r>
            <a:endParaRPr lang="en-US" sz="4450" dirty="0"/>
          </a:p>
        </p:txBody>
      </p:sp>
      <p:sp>
        <p:nvSpPr>
          <p:cNvPr id="4" name="Shape 1"/>
          <p:cNvSpPr/>
          <p:nvPr/>
        </p:nvSpPr>
        <p:spPr>
          <a:xfrm>
            <a:off x="793790" y="2946797"/>
            <a:ext cx="510302" cy="510302"/>
          </a:xfrm>
          <a:prstGeom prst="roundRect">
            <a:avLst>
              <a:gd name="adj" fmla="val 6667"/>
            </a:avLst>
          </a:prstGeom>
          <a:solidFill>
            <a:srgbClr val="3C3C3A"/>
          </a:solidFill>
          <a:ln/>
        </p:spPr>
      </p:sp>
      <p:sp>
        <p:nvSpPr>
          <p:cNvPr id="5" name="Text 2"/>
          <p:cNvSpPr/>
          <p:nvPr/>
        </p:nvSpPr>
        <p:spPr>
          <a:xfrm>
            <a:off x="971550" y="3031808"/>
            <a:ext cx="154781"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1</a:t>
            </a:r>
            <a:endParaRPr lang="en-US" sz="2650" dirty="0"/>
          </a:p>
        </p:txBody>
      </p:sp>
      <p:sp>
        <p:nvSpPr>
          <p:cNvPr id="6" name="Text 3"/>
          <p:cNvSpPr/>
          <p:nvPr/>
        </p:nvSpPr>
        <p:spPr>
          <a:xfrm>
            <a:off x="1530906" y="2946797"/>
            <a:ext cx="2927747" cy="1062990"/>
          </a:xfrm>
          <a:prstGeom prst="rect">
            <a:avLst/>
          </a:prstGeom>
          <a:noFill/>
          <a:ln/>
        </p:spPr>
        <p:txBody>
          <a:bodyPr wrap="squar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Conditional Independence Assumption</a:t>
            </a:r>
            <a:endParaRPr lang="en-US" sz="2200" dirty="0"/>
          </a:p>
        </p:txBody>
      </p:sp>
      <p:sp>
        <p:nvSpPr>
          <p:cNvPr id="7" name="Text 4"/>
          <p:cNvSpPr/>
          <p:nvPr/>
        </p:nvSpPr>
        <p:spPr>
          <a:xfrm>
            <a:off x="1530906" y="4145875"/>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Naive Bayes assumes features are independent of each other given a specific class.</a:t>
            </a:r>
            <a:endParaRPr lang="en-US" sz="1750" dirty="0"/>
          </a:p>
        </p:txBody>
      </p:sp>
      <p:sp>
        <p:nvSpPr>
          <p:cNvPr id="8" name="Shape 5"/>
          <p:cNvSpPr/>
          <p:nvPr/>
        </p:nvSpPr>
        <p:spPr>
          <a:xfrm>
            <a:off x="4685467" y="2946797"/>
            <a:ext cx="510302" cy="510302"/>
          </a:xfrm>
          <a:prstGeom prst="roundRect">
            <a:avLst>
              <a:gd name="adj" fmla="val 6667"/>
            </a:avLst>
          </a:prstGeom>
          <a:solidFill>
            <a:srgbClr val="3C3C3A"/>
          </a:solidFill>
          <a:ln/>
        </p:spPr>
      </p:sp>
      <p:sp>
        <p:nvSpPr>
          <p:cNvPr id="9" name="Text 6"/>
          <p:cNvSpPr/>
          <p:nvPr/>
        </p:nvSpPr>
        <p:spPr>
          <a:xfrm>
            <a:off x="4826318" y="3031808"/>
            <a:ext cx="22860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2</a:t>
            </a:r>
            <a:endParaRPr lang="en-US" sz="2650" dirty="0"/>
          </a:p>
        </p:txBody>
      </p:sp>
      <p:sp>
        <p:nvSpPr>
          <p:cNvPr id="10" name="Text 7"/>
          <p:cNvSpPr/>
          <p:nvPr/>
        </p:nvSpPr>
        <p:spPr>
          <a:xfrm>
            <a:off x="5422583" y="2946797"/>
            <a:ext cx="2927747" cy="708660"/>
          </a:xfrm>
          <a:prstGeom prst="rect">
            <a:avLst/>
          </a:prstGeom>
          <a:noFill/>
          <a:ln/>
        </p:spPr>
        <p:txBody>
          <a:bodyPr wrap="squar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Probability Calculation</a:t>
            </a:r>
            <a:endParaRPr lang="en-US" sz="2200" dirty="0"/>
          </a:p>
        </p:txBody>
      </p:sp>
      <p:sp>
        <p:nvSpPr>
          <p:cNvPr id="11" name="Text 8"/>
          <p:cNvSpPr/>
          <p:nvPr/>
        </p:nvSpPr>
        <p:spPr>
          <a:xfrm>
            <a:off x="5422583" y="3791545"/>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It calculates the probability of a class given observed features based on Bayes' theorem.</a:t>
            </a:r>
            <a:endParaRPr lang="en-US" sz="1750" dirty="0"/>
          </a:p>
        </p:txBody>
      </p:sp>
      <p:sp>
        <p:nvSpPr>
          <p:cNvPr id="12" name="Shape 9"/>
          <p:cNvSpPr/>
          <p:nvPr/>
        </p:nvSpPr>
        <p:spPr>
          <a:xfrm>
            <a:off x="793790" y="6079450"/>
            <a:ext cx="510302" cy="510302"/>
          </a:xfrm>
          <a:prstGeom prst="roundRect">
            <a:avLst>
              <a:gd name="adj" fmla="val 6667"/>
            </a:avLst>
          </a:prstGeom>
          <a:solidFill>
            <a:srgbClr val="3C3C3A"/>
          </a:solidFill>
          <a:ln/>
        </p:spPr>
      </p:sp>
      <p:sp>
        <p:nvSpPr>
          <p:cNvPr id="13" name="Text 10"/>
          <p:cNvSpPr/>
          <p:nvPr/>
        </p:nvSpPr>
        <p:spPr>
          <a:xfrm>
            <a:off x="935236" y="6164461"/>
            <a:ext cx="22729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3</a:t>
            </a:r>
            <a:endParaRPr lang="en-US" sz="2650" dirty="0"/>
          </a:p>
        </p:txBody>
      </p:sp>
      <p:sp>
        <p:nvSpPr>
          <p:cNvPr id="14" name="Text 11"/>
          <p:cNvSpPr/>
          <p:nvPr/>
        </p:nvSpPr>
        <p:spPr>
          <a:xfrm>
            <a:off x="1530906" y="607945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Classification Task</a:t>
            </a:r>
            <a:endParaRPr lang="en-US" sz="2200" dirty="0"/>
          </a:p>
        </p:txBody>
      </p:sp>
      <p:sp>
        <p:nvSpPr>
          <p:cNvPr id="15" name="Text 12"/>
          <p:cNvSpPr/>
          <p:nvPr/>
        </p:nvSpPr>
        <p:spPr>
          <a:xfrm>
            <a:off x="1530906" y="6569869"/>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Naive Bayes classifies instances into categories by selecting the class with the highest probability.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84848" y="808077"/>
            <a:ext cx="7774305" cy="1223010"/>
          </a:xfrm>
          <a:prstGeom prst="rect">
            <a:avLst/>
          </a:prstGeom>
          <a:noFill/>
          <a:ln/>
        </p:spPr>
        <p:txBody>
          <a:bodyPr wrap="square" lIns="0" tIns="0" rIns="0" bIns="0" rtlCol="0" anchor="t"/>
          <a:lstStyle/>
          <a:p>
            <a:pPr marL="0" indent="0">
              <a:lnSpc>
                <a:spcPts val="4800"/>
              </a:lnSpc>
              <a:buNone/>
            </a:pPr>
            <a:r>
              <a:rPr lang="en-US" sz="3850" dirty="0">
                <a:solidFill>
                  <a:srgbClr val="EDEDE8"/>
                </a:solidFill>
                <a:latin typeface="Tomorrow Semi Bold" pitchFamily="34" charset="0"/>
                <a:ea typeface="Tomorrow Semi Bold" pitchFamily="34" charset="-122"/>
                <a:cs typeface="Tomorrow Semi Bold" pitchFamily="34" charset="-120"/>
              </a:rPr>
              <a:t>Naive Bayes in Action: Text Classification</a:t>
            </a:r>
            <a:endParaRPr lang="en-US" sz="3850" dirty="0"/>
          </a:p>
        </p:txBody>
      </p:sp>
      <p:sp>
        <p:nvSpPr>
          <p:cNvPr id="4" name="Shape 1"/>
          <p:cNvSpPr/>
          <p:nvPr/>
        </p:nvSpPr>
        <p:spPr>
          <a:xfrm>
            <a:off x="966907" y="2324576"/>
            <a:ext cx="22860" cy="5096947"/>
          </a:xfrm>
          <a:prstGeom prst="roundRect">
            <a:avLst>
              <a:gd name="adj" fmla="val 128408"/>
            </a:avLst>
          </a:prstGeom>
          <a:solidFill>
            <a:srgbClr val="555553"/>
          </a:solidFill>
          <a:ln/>
        </p:spPr>
      </p:sp>
      <p:sp>
        <p:nvSpPr>
          <p:cNvPr id="5" name="Shape 2"/>
          <p:cNvSpPr/>
          <p:nvPr/>
        </p:nvSpPr>
        <p:spPr>
          <a:xfrm>
            <a:off x="1175623" y="2753439"/>
            <a:ext cx="684848" cy="22860"/>
          </a:xfrm>
          <a:prstGeom prst="roundRect">
            <a:avLst>
              <a:gd name="adj" fmla="val 128408"/>
            </a:avLst>
          </a:prstGeom>
          <a:solidFill>
            <a:srgbClr val="555553"/>
          </a:solidFill>
          <a:ln/>
        </p:spPr>
      </p:sp>
      <p:sp>
        <p:nvSpPr>
          <p:cNvPr id="6" name="Shape 3"/>
          <p:cNvSpPr/>
          <p:nvPr/>
        </p:nvSpPr>
        <p:spPr>
          <a:xfrm>
            <a:off x="758190" y="2544723"/>
            <a:ext cx="440293" cy="440293"/>
          </a:xfrm>
          <a:prstGeom prst="roundRect">
            <a:avLst>
              <a:gd name="adj" fmla="val 6667"/>
            </a:avLst>
          </a:prstGeom>
          <a:solidFill>
            <a:srgbClr val="3C3C3A"/>
          </a:solidFill>
          <a:ln/>
        </p:spPr>
      </p:sp>
      <p:sp>
        <p:nvSpPr>
          <p:cNvPr id="7" name="Text 4"/>
          <p:cNvSpPr/>
          <p:nvPr/>
        </p:nvSpPr>
        <p:spPr>
          <a:xfrm>
            <a:off x="911543" y="2618065"/>
            <a:ext cx="133588" cy="293489"/>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1</a:t>
            </a:r>
            <a:endParaRPr lang="en-US" sz="2300" dirty="0"/>
          </a:p>
        </p:txBody>
      </p:sp>
      <p:sp>
        <p:nvSpPr>
          <p:cNvPr id="8" name="Text 5"/>
          <p:cNvSpPr/>
          <p:nvPr/>
        </p:nvSpPr>
        <p:spPr>
          <a:xfrm>
            <a:off x="2054543" y="2520196"/>
            <a:ext cx="2446139" cy="305753"/>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Data Preparation</a:t>
            </a:r>
            <a:endParaRPr lang="en-US" sz="1900" dirty="0"/>
          </a:p>
        </p:txBody>
      </p:sp>
      <p:sp>
        <p:nvSpPr>
          <p:cNvPr id="9" name="Text 6"/>
          <p:cNvSpPr/>
          <p:nvPr/>
        </p:nvSpPr>
        <p:spPr>
          <a:xfrm>
            <a:off x="2054543" y="2943344"/>
            <a:ext cx="6404610" cy="313134"/>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Prepare text data by tokenizing words and creating a vocabulary.</a:t>
            </a:r>
            <a:endParaRPr lang="en-US" sz="1500" dirty="0"/>
          </a:p>
        </p:txBody>
      </p:sp>
      <p:sp>
        <p:nvSpPr>
          <p:cNvPr id="10" name="Shape 7"/>
          <p:cNvSpPr/>
          <p:nvPr/>
        </p:nvSpPr>
        <p:spPr>
          <a:xfrm>
            <a:off x="1175623" y="4076581"/>
            <a:ext cx="684848" cy="22860"/>
          </a:xfrm>
          <a:prstGeom prst="roundRect">
            <a:avLst>
              <a:gd name="adj" fmla="val 128408"/>
            </a:avLst>
          </a:prstGeom>
          <a:solidFill>
            <a:srgbClr val="555553"/>
          </a:solidFill>
          <a:ln/>
        </p:spPr>
      </p:sp>
      <p:sp>
        <p:nvSpPr>
          <p:cNvPr id="11" name="Shape 8"/>
          <p:cNvSpPr/>
          <p:nvPr/>
        </p:nvSpPr>
        <p:spPr>
          <a:xfrm>
            <a:off x="758190" y="3867864"/>
            <a:ext cx="440293" cy="440293"/>
          </a:xfrm>
          <a:prstGeom prst="roundRect">
            <a:avLst>
              <a:gd name="adj" fmla="val 6667"/>
            </a:avLst>
          </a:prstGeom>
          <a:solidFill>
            <a:srgbClr val="3C3C3A"/>
          </a:solidFill>
          <a:ln/>
        </p:spPr>
      </p:sp>
      <p:sp>
        <p:nvSpPr>
          <p:cNvPr id="12" name="Text 9"/>
          <p:cNvSpPr/>
          <p:nvPr/>
        </p:nvSpPr>
        <p:spPr>
          <a:xfrm>
            <a:off x="879634" y="3941207"/>
            <a:ext cx="197287" cy="293489"/>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2</a:t>
            </a:r>
            <a:endParaRPr lang="en-US" sz="2300" dirty="0"/>
          </a:p>
        </p:txBody>
      </p:sp>
      <p:sp>
        <p:nvSpPr>
          <p:cNvPr id="13" name="Text 10"/>
          <p:cNvSpPr/>
          <p:nvPr/>
        </p:nvSpPr>
        <p:spPr>
          <a:xfrm>
            <a:off x="2054543" y="3843337"/>
            <a:ext cx="2446139" cy="305753"/>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Feature Extraction</a:t>
            </a:r>
            <a:endParaRPr lang="en-US" sz="1900" dirty="0"/>
          </a:p>
        </p:txBody>
      </p:sp>
      <p:sp>
        <p:nvSpPr>
          <p:cNvPr id="14" name="Text 11"/>
          <p:cNvSpPr/>
          <p:nvPr/>
        </p:nvSpPr>
        <p:spPr>
          <a:xfrm>
            <a:off x="2054543" y="4266486"/>
            <a:ext cx="6404610" cy="313134"/>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Extract features like word frequencies or presence of keywords.</a:t>
            </a:r>
            <a:endParaRPr lang="en-US" sz="1500" dirty="0"/>
          </a:p>
        </p:txBody>
      </p:sp>
      <p:sp>
        <p:nvSpPr>
          <p:cNvPr id="15" name="Shape 12"/>
          <p:cNvSpPr/>
          <p:nvPr/>
        </p:nvSpPr>
        <p:spPr>
          <a:xfrm>
            <a:off x="1175623" y="5399723"/>
            <a:ext cx="684848" cy="22860"/>
          </a:xfrm>
          <a:prstGeom prst="roundRect">
            <a:avLst>
              <a:gd name="adj" fmla="val 128408"/>
            </a:avLst>
          </a:prstGeom>
          <a:solidFill>
            <a:srgbClr val="555553"/>
          </a:solidFill>
          <a:ln/>
        </p:spPr>
      </p:sp>
      <p:sp>
        <p:nvSpPr>
          <p:cNvPr id="16" name="Shape 13"/>
          <p:cNvSpPr/>
          <p:nvPr/>
        </p:nvSpPr>
        <p:spPr>
          <a:xfrm>
            <a:off x="758190" y="5191006"/>
            <a:ext cx="440293" cy="440293"/>
          </a:xfrm>
          <a:prstGeom prst="roundRect">
            <a:avLst>
              <a:gd name="adj" fmla="val 6667"/>
            </a:avLst>
          </a:prstGeom>
          <a:solidFill>
            <a:srgbClr val="3C3C3A"/>
          </a:solidFill>
          <a:ln/>
        </p:spPr>
      </p:sp>
      <p:sp>
        <p:nvSpPr>
          <p:cNvPr id="17" name="Text 14"/>
          <p:cNvSpPr/>
          <p:nvPr/>
        </p:nvSpPr>
        <p:spPr>
          <a:xfrm>
            <a:off x="880229" y="5264348"/>
            <a:ext cx="196096" cy="293489"/>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3</a:t>
            </a:r>
            <a:endParaRPr lang="en-US" sz="2300" dirty="0"/>
          </a:p>
        </p:txBody>
      </p:sp>
      <p:sp>
        <p:nvSpPr>
          <p:cNvPr id="18" name="Text 15"/>
          <p:cNvSpPr/>
          <p:nvPr/>
        </p:nvSpPr>
        <p:spPr>
          <a:xfrm>
            <a:off x="2054543" y="5166479"/>
            <a:ext cx="2797969" cy="305753"/>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Probability Calculation</a:t>
            </a:r>
            <a:endParaRPr lang="en-US" sz="1900" dirty="0"/>
          </a:p>
        </p:txBody>
      </p:sp>
      <p:sp>
        <p:nvSpPr>
          <p:cNvPr id="19" name="Text 16"/>
          <p:cNvSpPr/>
          <p:nvPr/>
        </p:nvSpPr>
        <p:spPr>
          <a:xfrm>
            <a:off x="2054543" y="5589627"/>
            <a:ext cx="6404610" cy="313134"/>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Calculate probabilities of classes based on feature frequencies.</a:t>
            </a:r>
            <a:endParaRPr lang="en-US" sz="1500" dirty="0"/>
          </a:p>
        </p:txBody>
      </p:sp>
      <p:sp>
        <p:nvSpPr>
          <p:cNvPr id="20" name="Shape 17"/>
          <p:cNvSpPr/>
          <p:nvPr/>
        </p:nvSpPr>
        <p:spPr>
          <a:xfrm>
            <a:off x="1175623" y="6722864"/>
            <a:ext cx="684848" cy="22860"/>
          </a:xfrm>
          <a:prstGeom prst="roundRect">
            <a:avLst>
              <a:gd name="adj" fmla="val 128408"/>
            </a:avLst>
          </a:prstGeom>
          <a:solidFill>
            <a:srgbClr val="555553"/>
          </a:solidFill>
          <a:ln/>
        </p:spPr>
      </p:sp>
      <p:sp>
        <p:nvSpPr>
          <p:cNvPr id="21" name="Shape 18"/>
          <p:cNvSpPr/>
          <p:nvPr/>
        </p:nvSpPr>
        <p:spPr>
          <a:xfrm>
            <a:off x="758190" y="6514148"/>
            <a:ext cx="440293" cy="440293"/>
          </a:xfrm>
          <a:prstGeom prst="roundRect">
            <a:avLst>
              <a:gd name="adj" fmla="val 6667"/>
            </a:avLst>
          </a:prstGeom>
          <a:solidFill>
            <a:srgbClr val="3C3C3A"/>
          </a:solidFill>
          <a:ln/>
        </p:spPr>
      </p:sp>
      <p:sp>
        <p:nvSpPr>
          <p:cNvPr id="22" name="Text 19"/>
          <p:cNvSpPr/>
          <p:nvPr/>
        </p:nvSpPr>
        <p:spPr>
          <a:xfrm>
            <a:off x="879634" y="6587490"/>
            <a:ext cx="197287" cy="293489"/>
          </a:xfrm>
          <a:prstGeom prst="rect">
            <a:avLst/>
          </a:prstGeom>
          <a:noFill/>
          <a:ln/>
        </p:spPr>
        <p:txBody>
          <a:bodyPr wrap="none" lIns="0" tIns="0" rIns="0" bIns="0" rtlCol="0" anchor="t"/>
          <a:lstStyle/>
          <a:p>
            <a:pPr marL="0" indent="0" algn="ctr">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4</a:t>
            </a:r>
            <a:endParaRPr lang="en-US" sz="2300" dirty="0"/>
          </a:p>
        </p:txBody>
      </p:sp>
      <p:sp>
        <p:nvSpPr>
          <p:cNvPr id="23" name="Text 20"/>
          <p:cNvSpPr/>
          <p:nvPr/>
        </p:nvSpPr>
        <p:spPr>
          <a:xfrm>
            <a:off x="2054543" y="6489621"/>
            <a:ext cx="2446139" cy="305753"/>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Classification</a:t>
            </a:r>
            <a:endParaRPr lang="en-US" sz="1900" dirty="0"/>
          </a:p>
        </p:txBody>
      </p:sp>
      <p:sp>
        <p:nvSpPr>
          <p:cNvPr id="24" name="Text 21"/>
          <p:cNvSpPr/>
          <p:nvPr/>
        </p:nvSpPr>
        <p:spPr>
          <a:xfrm>
            <a:off x="2054543" y="6912769"/>
            <a:ext cx="6404610" cy="313134"/>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Classify new text by selecting the class with the highest probability.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24269"/>
          </a:xfrm>
          <a:prstGeom prst="rect">
            <a:avLst/>
          </a:prstGeom>
        </p:spPr>
      </p:pic>
      <p:sp>
        <p:nvSpPr>
          <p:cNvPr id="3" name="Text 0"/>
          <p:cNvSpPr/>
          <p:nvPr/>
        </p:nvSpPr>
        <p:spPr>
          <a:xfrm>
            <a:off x="762714" y="3492341"/>
            <a:ext cx="13104971" cy="1362075"/>
          </a:xfrm>
          <a:prstGeom prst="rect">
            <a:avLst/>
          </a:prstGeom>
          <a:noFill/>
          <a:ln/>
        </p:spPr>
        <p:txBody>
          <a:bodyPr wrap="square" lIns="0" tIns="0" rIns="0" bIns="0" rtlCol="0" anchor="t"/>
          <a:lstStyle/>
          <a:p>
            <a:pPr marL="0" indent="0">
              <a:lnSpc>
                <a:spcPts val="5350"/>
              </a:lnSpc>
              <a:buNone/>
            </a:pPr>
            <a:r>
              <a:rPr lang="en-US" sz="4250" dirty="0">
                <a:solidFill>
                  <a:srgbClr val="EDEDE8"/>
                </a:solidFill>
                <a:latin typeface="Tomorrow Semi Bold" pitchFamily="34" charset="0"/>
                <a:ea typeface="Tomorrow Semi Bold" pitchFamily="34" charset="-122"/>
                <a:cs typeface="Tomorrow Semi Bold" pitchFamily="34" charset="-120"/>
              </a:rPr>
              <a:t>Bayesian Belief Networks: Representing Complex Dependencies</a:t>
            </a:r>
            <a:endParaRPr lang="en-US" sz="4250" dirty="0"/>
          </a:p>
        </p:txBody>
      </p:sp>
      <p:pic>
        <p:nvPicPr>
          <p:cNvPr id="4" name="Image 1" descr="preencoded.png"/>
          <p:cNvPicPr>
            <a:picLocks noChangeAspect="1"/>
          </p:cNvPicPr>
          <p:nvPr/>
        </p:nvPicPr>
        <p:blipFill>
          <a:blip r:embed="rId4"/>
          <a:stretch>
            <a:fillRect/>
          </a:stretch>
        </p:blipFill>
        <p:spPr>
          <a:xfrm>
            <a:off x="762714" y="5181243"/>
            <a:ext cx="544830" cy="544830"/>
          </a:xfrm>
          <a:prstGeom prst="rect">
            <a:avLst/>
          </a:prstGeom>
        </p:spPr>
      </p:pic>
      <p:sp>
        <p:nvSpPr>
          <p:cNvPr id="5" name="Text 1"/>
          <p:cNvSpPr/>
          <p:nvPr/>
        </p:nvSpPr>
        <p:spPr>
          <a:xfrm>
            <a:off x="762714" y="5943957"/>
            <a:ext cx="3989308" cy="340519"/>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Directed Acyclic Graph (DAG)</a:t>
            </a:r>
            <a:endParaRPr lang="en-US" sz="2100" dirty="0"/>
          </a:p>
        </p:txBody>
      </p:sp>
      <p:sp>
        <p:nvSpPr>
          <p:cNvPr id="6" name="Text 2"/>
          <p:cNvSpPr/>
          <p:nvPr/>
        </p:nvSpPr>
        <p:spPr>
          <a:xfrm>
            <a:off x="762714" y="6415207"/>
            <a:ext cx="4150400" cy="697468"/>
          </a:xfrm>
          <a:prstGeom prst="rect">
            <a:avLst/>
          </a:prstGeom>
          <a:noFill/>
          <a:ln/>
        </p:spPr>
        <p:txBody>
          <a:bodyPr wrap="square" lIns="0" tIns="0" rIns="0" bIns="0" rtlCol="0" anchor="t"/>
          <a:lstStyle/>
          <a:p>
            <a:pPr marL="0" indent="0" algn="l">
              <a:lnSpc>
                <a:spcPts val="2700"/>
              </a:lnSpc>
              <a:buNone/>
            </a:pPr>
            <a:r>
              <a:rPr lang="en-US" sz="1700" dirty="0">
                <a:solidFill>
                  <a:srgbClr val="C9C9C0"/>
                </a:solidFill>
                <a:latin typeface="Tomorrow" pitchFamily="34" charset="0"/>
                <a:ea typeface="Tomorrow" pitchFamily="34" charset="-122"/>
                <a:cs typeface="Tomorrow" pitchFamily="34" charset="-120"/>
              </a:rPr>
              <a:t>A network structure representing relationships between variables.</a:t>
            </a:r>
            <a:endParaRPr lang="en-US" sz="1700" dirty="0"/>
          </a:p>
        </p:txBody>
      </p:sp>
      <p:pic>
        <p:nvPicPr>
          <p:cNvPr id="7" name="Image 2" descr="preencoded.png"/>
          <p:cNvPicPr>
            <a:picLocks noChangeAspect="1"/>
          </p:cNvPicPr>
          <p:nvPr/>
        </p:nvPicPr>
        <p:blipFill>
          <a:blip r:embed="rId5"/>
          <a:stretch>
            <a:fillRect/>
          </a:stretch>
        </p:blipFill>
        <p:spPr>
          <a:xfrm>
            <a:off x="5239941" y="5181243"/>
            <a:ext cx="544830" cy="544830"/>
          </a:xfrm>
          <a:prstGeom prst="rect">
            <a:avLst/>
          </a:prstGeom>
        </p:spPr>
      </p:pic>
      <p:sp>
        <p:nvSpPr>
          <p:cNvPr id="8" name="Text 3"/>
          <p:cNvSpPr/>
          <p:nvPr/>
        </p:nvSpPr>
        <p:spPr>
          <a:xfrm>
            <a:off x="5239941" y="5943957"/>
            <a:ext cx="4150400" cy="681038"/>
          </a:xfrm>
          <a:prstGeom prst="rect">
            <a:avLst/>
          </a:prstGeom>
          <a:noFill/>
          <a:ln/>
        </p:spPr>
        <p:txBody>
          <a:bodyPr wrap="squar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Conditional Probability Tables (CPTs)</a:t>
            </a:r>
            <a:endParaRPr lang="en-US" sz="2100" dirty="0"/>
          </a:p>
        </p:txBody>
      </p:sp>
      <p:sp>
        <p:nvSpPr>
          <p:cNvPr id="9" name="Text 4"/>
          <p:cNvSpPr/>
          <p:nvPr/>
        </p:nvSpPr>
        <p:spPr>
          <a:xfrm>
            <a:off x="5239941" y="6755725"/>
            <a:ext cx="4150400" cy="697468"/>
          </a:xfrm>
          <a:prstGeom prst="rect">
            <a:avLst/>
          </a:prstGeom>
          <a:noFill/>
          <a:ln/>
        </p:spPr>
        <p:txBody>
          <a:bodyPr wrap="square" lIns="0" tIns="0" rIns="0" bIns="0" rtlCol="0" anchor="t"/>
          <a:lstStyle/>
          <a:p>
            <a:pPr marL="0" indent="0" algn="l">
              <a:lnSpc>
                <a:spcPts val="2700"/>
              </a:lnSpc>
              <a:buNone/>
            </a:pPr>
            <a:r>
              <a:rPr lang="en-US" sz="1700" dirty="0">
                <a:solidFill>
                  <a:srgbClr val="C9C9C0"/>
                </a:solidFill>
                <a:latin typeface="Tomorrow" pitchFamily="34" charset="0"/>
                <a:ea typeface="Tomorrow" pitchFamily="34" charset="-122"/>
                <a:cs typeface="Tomorrow" pitchFamily="34" charset="-120"/>
              </a:rPr>
              <a:t>Tables defining probabilities of variables given their parents in the network.</a:t>
            </a:r>
            <a:endParaRPr lang="en-US" sz="1700" dirty="0"/>
          </a:p>
        </p:txBody>
      </p:sp>
      <p:pic>
        <p:nvPicPr>
          <p:cNvPr id="10" name="Image 3" descr="preencoded.png"/>
          <p:cNvPicPr>
            <a:picLocks noChangeAspect="1"/>
          </p:cNvPicPr>
          <p:nvPr/>
        </p:nvPicPr>
        <p:blipFill>
          <a:blip r:embed="rId6"/>
          <a:stretch>
            <a:fillRect/>
          </a:stretch>
        </p:blipFill>
        <p:spPr>
          <a:xfrm>
            <a:off x="9717167" y="5181243"/>
            <a:ext cx="544830" cy="544830"/>
          </a:xfrm>
          <a:prstGeom prst="rect">
            <a:avLst/>
          </a:prstGeom>
        </p:spPr>
      </p:pic>
      <p:sp>
        <p:nvSpPr>
          <p:cNvPr id="11" name="Text 5"/>
          <p:cNvSpPr/>
          <p:nvPr/>
        </p:nvSpPr>
        <p:spPr>
          <a:xfrm>
            <a:off x="9717167" y="5943957"/>
            <a:ext cx="2950250" cy="340519"/>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Inference Algorithms</a:t>
            </a:r>
            <a:endParaRPr lang="en-US" sz="2100" dirty="0"/>
          </a:p>
        </p:txBody>
      </p:sp>
      <p:sp>
        <p:nvSpPr>
          <p:cNvPr id="12" name="Text 6"/>
          <p:cNvSpPr/>
          <p:nvPr/>
        </p:nvSpPr>
        <p:spPr>
          <a:xfrm>
            <a:off x="9717167" y="6415207"/>
            <a:ext cx="4150519" cy="1046202"/>
          </a:xfrm>
          <a:prstGeom prst="rect">
            <a:avLst/>
          </a:prstGeom>
          <a:noFill/>
          <a:ln/>
        </p:spPr>
        <p:txBody>
          <a:bodyPr wrap="square" lIns="0" tIns="0" rIns="0" bIns="0" rtlCol="0" anchor="t"/>
          <a:lstStyle/>
          <a:p>
            <a:pPr marL="0" indent="0" algn="l">
              <a:lnSpc>
                <a:spcPts val="2700"/>
              </a:lnSpc>
              <a:buNone/>
            </a:pPr>
            <a:r>
              <a:rPr lang="en-US" sz="1700" dirty="0">
                <a:solidFill>
                  <a:srgbClr val="C9C9C0"/>
                </a:solidFill>
                <a:latin typeface="Tomorrow" pitchFamily="34" charset="0"/>
                <a:ea typeface="Tomorrow" pitchFamily="34" charset="-122"/>
                <a:cs typeface="Tomorrow" pitchFamily="34" charset="-120"/>
              </a:rPr>
              <a:t>Algorithms for computing probabilities of unobserved variables given evidence.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3065" y="880586"/>
            <a:ext cx="7717869" cy="1273254"/>
          </a:xfrm>
          <a:prstGeom prst="rect">
            <a:avLst/>
          </a:prstGeom>
          <a:noFill/>
          <a:ln/>
        </p:spPr>
        <p:txBody>
          <a:bodyPr wrap="square" lIns="0" tIns="0" rIns="0" bIns="0" rtlCol="0" anchor="t"/>
          <a:lstStyle/>
          <a:p>
            <a:pPr marL="0" indent="0">
              <a:lnSpc>
                <a:spcPts val="5000"/>
              </a:lnSpc>
              <a:buNone/>
            </a:pPr>
            <a:r>
              <a:rPr lang="en-US" sz="4000" dirty="0">
                <a:solidFill>
                  <a:srgbClr val="EDEDE8"/>
                </a:solidFill>
                <a:latin typeface="Tomorrow Semi Bold" pitchFamily="34" charset="0"/>
                <a:ea typeface="Tomorrow Semi Bold" pitchFamily="34" charset="-122"/>
                <a:cs typeface="Tomorrow Semi Bold" pitchFamily="34" charset="-120"/>
              </a:rPr>
              <a:t>Modeling Dependencies with Bayesian Belief Networks</a:t>
            </a:r>
            <a:endParaRPr lang="en-US" sz="4000" dirty="0"/>
          </a:p>
        </p:txBody>
      </p:sp>
      <p:pic>
        <p:nvPicPr>
          <p:cNvPr id="4" name="Image 1" descr="preencoded.png"/>
          <p:cNvPicPr>
            <a:picLocks noChangeAspect="1"/>
          </p:cNvPicPr>
          <p:nvPr/>
        </p:nvPicPr>
        <p:blipFill>
          <a:blip r:embed="rId4"/>
          <a:stretch>
            <a:fillRect/>
          </a:stretch>
        </p:blipFill>
        <p:spPr>
          <a:xfrm>
            <a:off x="713065" y="2459355"/>
            <a:ext cx="1018699" cy="1629847"/>
          </a:xfrm>
          <a:prstGeom prst="rect">
            <a:avLst/>
          </a:prstGeom>
        </p:spPr>
      </p:pic>
      <p:sp>
        <p:nvSpPr>
          <p:cNvPr id="5" name="Text 1"/>
          <p:cNvSpPr/>
          <p:nvPr/>
        </p:nvSpPr>
        <p:spPr>
          <a:xfrm>
            <a:off x="2037278" y="2663071"/>
            <a:ext cx="2546747" cy="318254"/>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Structure Learning</a:t>
            </a:r>
            <a:endParaRPr lang="en-US" sz="2000" dirty="0"/>
          </a:p>
        </p:txBody>
      </p:sp>
      <p:sp>
        <p:nvSpPr>
          <p:cNvPr id="6" name="Text 2"/>
          <p:cNvSpPr/>
          <p:nvPr/>
        </p:nvSpPr>
        <p:spPr>
          <a:xfrm>
            <a:off x="2037278" y="3103483"/>
            <a:ext cx="6393656" cy="651748"/>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Identifying the relationships between variables based on domain knowledge or data analysis.</a:t>
            </a:r>
            <a:endParaRPr lang="en-US" sz="1600" dirty="0"/>
          </a:p>
        </p:txBody>
      </p:sp>
      <p:pic>
        <p:nvPicPr>
          <p:cNvPr id="7" name="Image 2" descr="preencoded.png"/>
          <p:cNvPicPr>
            <a:picLocks noChangeAspect="1"/>
          </p:cNvPicPr>
          <p:nvPr/>
        </p:nvPicPr>
        <p:blipFill>
          <a:blip r:embed="rId5"/>
          <a:stretch>
            <a:fillRect/>
          </a:stretch>
        </p:blipFill>
        <p:spPr>
          <a:xfrm>
            <a:off x="713065" y="4089202"/>
            <a:ext cx="1018699" cy="1629847"/>
          </a:xfrm>
          <a:prstGeom prst="rect">
            <a:avLst/>
          </a:prstGeom>
        </p:spPr>
      </p:pic>
      <p:sp>
        <p:nvSpPr>
          <p:cNvPr id="8" name="Text 3"/>
          <p:cNvSpPr/>
          <p:nvPr/>
        </p:nvSpPr>
        <p:spPr>
          <a:xfrm>
            <a:off x="2037278" y="4292918"/>
            <a:ext cx="2814161" cy="318254"/>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Parameter Estimation</a:t>
            </a:r>
            <a:endParaRPr lang="en-US" sz="2000" dirty="0"/>
          </a:p>
        </p:txBody>
      </p:sp>
      <p:sp>
        <p:nvSpPr>
          <p:cNvPr id="9" name="Text 4"/>
          <p:cNvSpPr/>
          <p:nvPr/>
        </p:nvSpPr>
        <p:spPr>
          <a:xfrm>
            <a:off x="2037278" y="4733330"/>
            <a:ext cx="6393656" cy="651748"/>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Estimating the conditional probabilities in the CPTs using training data.</a:t>
            </a:r>
            <a:endParaRPr lang="en-US" sz="1600" dirty="0"/>
          </a:p>
        </p:txBody>
      </p:sp>
      <p:pic>
        <p:nvPicPr>
          <p:cNvPr id="10" name="Image 3" descr="preencoded.png"/>
          <p:cNvPicPr>
            <a:picLocks noChangeAspect="1"/>
          </p:cNvPicPr>
          <p:nvPr/>
        </p:nvPicPr>
        <p:blipFill>
          <a:blip r:embed="rId6"/>
          <a:stretch>
            <a:fillRect/>
          </a:stretch>
        </p:blipFill>
        <p:spPr>
          <a:xfrm>
            <a:off x="713065" y="5719048"/>
            <a:ext cx="1018699" cy="1629847"/>
          </a:xfrm>
          <a:prstGeom prst="rect">
            <a:avLst/>
          </a:prstGeom>
        </p:spPr>
      </p:pic>
      <p:sp>
        <p:nvSpPr>
          <p:cNvPr id="11" name="Text 5"/>
          <p:cNvSpPr/>
          <p:nvPr/>
        </p:nvSpPr>
        <p:spPr>
          <a:xfrm>
            <a:off x="2037278" y="5922764"/>
            <a:ext cx="2546747" cy="318254"/>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Inference</a:t>
            </a:r>
            <a:endParaRPr lang="en-US" sz="2000" dirty="0"/>
          </a:p>
        </p:txBody>
      </p:sp>
      <p:sp>
        <p:nvSpPr>
          <p:cNvPr id="12" name="Text 6"/>
          <p:cNvSpPr/>
          <p:nvPr/>
        </p:nvSpPr>
        <p:spPr>
          <a:xfrm>
            <a:off x="2037278" y="6363176"/>
            <a:ext cx="6393656" cy="651748"/>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Computing probabilities of interest given observed evidence in the network.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3631992" y="961217"/>
            <a:ext cx="7556421" cy="2126337"/>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Advantages and Limitations of Bayesian Learning</a:t>
            </a:r>
            <a:endParaRPr lang="en-US" sz="4450" dirty="0"/>
          </a:p>
        </p:txBody>
      </p:sp>
      <p:sp>
        <p:nvSpPr>
          <p:cNvPr id="4" name="Text 1"/>
          <p:cNvSpPr/>
          <p:nvPr/>
        </p:nvSpPr>
        <p:spPr>
          <a:xfrm>
            <a:off x="2408834" y="3715330"/>
            <a:ext cx="3608070" cy="748427"/>
          </a:xfrm>
          <a:prstGeom prst="rect">
            <a:avLst/>
          </a:prstGeom>
          <a:noFill/>
          <a:ln/>
        </p:spPr>
        <p:txBody>
          <a:bodyPr wrap="none" lIns="0" tIns="0" rIns="0" bIns="0" rtlCol="0" anchor="t"/>
          <a:lstStyle/>
          <a:p>
            <a:pPr marL="0" indent="0" algn="ctr">
              <a:lnSpc>
                <a:spcPts val="5850"/>
              </a:lnSpc>
              <a:buNone/>
            </a:pPr>
            <a:r>
              <a:rPr lang="en-US" sz="5850" dirty="0">
                <a:solidFill>
                  <a:srgbClr val="C9C9C0"/>
                </a:solidFill>
                <a:latin typeface="Tomorrow Semi Bold" pitchFamily="34" charset="0"/>
                <a:ea typeface="Tomorrow Semi Bold" pitchFamily="34" charset="-122"/>
                <a:cs typeface="Tomorrow Semi Bold" pitchFamily="34" charset="-120"/>
              </a:rPr>
              <a:t>1</a:t>
            </a:r>
            <a:endParaRPr lang="en-US" sz="5850" dirty="0"/>
          </a:p>
        </p:txBody>
      </p:sp>
      <p:sp>
        <p:nvSpPr>
          <p:cNvPr id="5" name="Text 2"/>
          <p:cNvSpPr/>
          <p:nvPr/>
        </p:nvSpPr>
        <p:spPr>
          <a:xfrm>
            <a:off x="2712065" y="495383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Strengths</a:t>
            </a:r>
            <a:endParaRPr lang="en-US" sz="2200" dirty="0"/>
          </a:p>
        </p:txBody>
      </p:sp>
      <p:sp>
        <p:nvSpPr>
          <p:cNvPr id="6" name="Text 3"/>
          <p:cNvSpPr/>
          <p:nvPr/>
        </p:nvSpPr>
        <p:spPr>
          <a:xfrm>
            <a:off x="2325647" y="5740170"/>
            <a:ext cx="3608070" cy="1088708"/>
          </a:xfrm>
          <a:prstGeom prst="rect">
            <a:avLst/>
          </a:prstGeom>
          <a:noFill/>
          <a:ln/>
        </p:spPr>
        <p:txBody>
          <a:bodyPr wrap="square" lIns="0" tIns="0" rIns="0" bIns="0" rtlCol="0" anchor="t"/>
          <a:lstStyle/>
          <a:p>
            <a:pPr marL="0" indent="0" algn="ctr">
              <a:lnSpc>
                <a:spcPts val="2850"/>
              </a:lnSpc>
              <a:buNone/>
            </a:pPr>
            <a:r>
              <a:rPr lang="en-US" sz="1750" dirty="0">
                <a:solidFill>
                  <a:srgbClr val="C9C9C0"/>
                </a:solidFill>
                <a:latin typeface="Tomorrow" pitchFamily="34" charset="0"/>
                <a:ea typeface="Tomorrow" pitchFamily="34" charset="-122"/>
                <a:cs typeface="Tomorrow" pitchFamily="34" charset="-120"/>
              </a:rPr>
              <a:t>Robust to noisy data, interpretable models, handles missing data well.</a:t>
            </a:r>
            <a:endParaRPr lang="en-US" sz="1750" dirty="0"/>
          </a:p>
        </p:txBody>
      </p:sp>
      <p:sp>
        <p:nvSpPr>
          <p:cNvPr id="7" name="Text 4"/>
          <p:cNvSpPr/>
          <p:nvPr/>
        </p:nvSpPr>
        <p:spPr>
          <a:xfrm>
            <a:off x="8993387" y="3541062"/>
            <a:ext cx="3608189" cy="748427"/>
          </a:xfrm>
          <a:prstGeom prst="rect">
            <a:avLst/>
          </a:prstGeom>
          <a:noFill/>
          <a:ln/>
        </p:spPr>
        <p:txBody>
          <a:bodyPr wrap="none" lIns="0" tIns="0" rIns="0" bIns="0" rtlCol="0" anchor="t"/>
          <a:lstStyle/>
          <a:p>
            <a:pPr marL="0" indent="0" algn="ctr">
              <a:lnSpc>
                <a:spcPts val="5850"/>
              </a:lnSpc>
              <a:buNone/>
            </a:pPr>
            <a:r>
              <a:rPr lang="en-US" sz="5850" dirty="0">
                <a:solidFill>
                  <a:srgbClr val="C9C9C0"/>
                </a:solidFill>
                <a:latin typeface="Tomorrow Semi Bold" pitchFamily="34" charset="0"/>
                <a:ea typeface="Tomorrow Semi Bold" pitchFamily="34" charset="-122"/>
                <a:cs typeface="Tomorrow Semi Bold" pitchFamily="34" charset="-120"/>
              </a:rPr>
              <a:t>2</a:t>
            </a:r>
            <a:endParaRPr lang="en-US" sz="5850" dirty="0"/>
          </a:p>
        </p:txBody>
      </p:sp>
      <p:sp>
        <p:nvSpPr>
          <p:cNvPr id="8" name="Text 5"/>
          <p:cNvSpPr/>
          <p:nvPr/>
        </p:nvSpPr>
        <p:spPr>
          <a:xfrm>
            <a:off x="9379863" y="4776668"/>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Limitations</a:t>
            </a:r>
            <a:endParaRPr lang="en-US" sz="2200" dirty="0"/>
          </a:p>
        </p:txBody>
      </p:sp>
      <p:sp>
        <p:nvSpPr>
          <p:cNvPr id="9" name="Text 6"/>
          <p:cNvSpPr/>
          <p:nvPr/>
        </p:nvSpPr>
        <p:spPr>
          <a:xfrm>
            <a:off x="8993387" y="5502664"/>
            <a:ext cx="3608189" cy="1088708"/>
          </a:xfrm>
          <a:prstGeom prst="rect">
            <a:avLst/>
          </a:prstGeom>
          <a:noFill/>
          <a:ln/>
        </p:spPr>
        <p:txBody>
          <a:bodyPr wrap="square" lIns="0" tIns="0" rIns="0" bIns="0" rtlCol="0" anchor="t"/>
          <a:lstStyle/>
          <a:p>
            <a:pPr marL="0" indent="0" algn="ctr">
              <a:lnSpc>
                <a:spcPts val="2850"/>
              </a:lnSpc>
              <a:buNone/>
            </a:pPr>
            <a:r>
              <a:rPr lang="en-US" sz="1750" dirty="0">
                <a:solidFill>
                  <a:srgbClr val="C9C9C0"/>
                </a:solidFill>
                <a:latin typeface="Tomorrow" pitchFamily="34" charset="0"/>
                <a:ea typeface="Tomorrow" pitchFamily="34" charset="-122"/>
                <a:cs typeface="Tomorrow" pitchFamily="34" charset="-120"/>
              </a:rPr>
              <a:t>Assumptions of independence can be restrictive, computational complexity for large networks.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427</Words>
  <Application>Microsoft Office PowerPoint</Application>
  <PresentationFormat>Custom</PresentationFormat>
  <Paragraphs>73</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Tomorrow</vt:lpstr>
      <vt:lpstr>Tomorrow Bold</vt:lpstr>
      <vt:lpstr>Calibri</vt:lpstr>
      <vt:lpstr>Tomorrow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2024-12-19T06:51:35Z</dcterms:created>
  <dcterms:modified xsi:type="dcterms:W3CDTF">2024-12-19T06:56:21Z</dcterms:modified>
</cp:coreProperties>
</file>